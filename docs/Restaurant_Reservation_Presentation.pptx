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65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CHRIST UNIVERSITY • SCHOOL OF ENGINEERING &amp; TECHNOLOGY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Restaurant Table Reservation &amp;</a:t>
            </a:r>
            <a:br/>
            <a:r>
              <a:t>Food Ordering System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An Enterprise Multi-Branch Platform with Real-Time Conflict Prevention &amp; Workflow Automation</a:t>
            </a:r>
          </a:p>
          <a:p>
            <a:pPr>
              <a:spcBef>
                <a:spcPts val="28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• Course: B.Tech (Computer Science &amp; Engineering) — 5th Semester</a:t>
            </a:r>
            <a:br/>
            <a:r>
              <a:t>• Evaluation: Continuous Internal Assessment (CIA-3)</a:t>
            </a:r>
            <a:br/>
            <a:r>
              <a:t>• Tech Stack: Node.js, Express.js, MongoDB, Mongoose ODM, JWT, bcrypt, HTML5/CSS3/Vanilla JS</a:t>
            </a:r>
            <a:br/>
            <a:r>
              <a:t>• Status: 13 Modules Implemented | 149/149 Automated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Problem Statement: Challenges in Traditional Restaurant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  <a:latin typeface="Arial"/>
              </a:defRPr>
            </a:pPr>
            <a:r>
              <a:t>• Manual Table Allocations &amp; Double-Bookings: </a:t>
            </a:r>
            <a:r>
              <a:rPr b="0" sz="1200">
                <a:solidFill>
                  <a:srgbClr val="CBD5E1"/>
                </a:solidFill>
              </a:rPr>
              <a:t>Phone and paper logbook reservation systems suffer from human scheduling oversights, resulting in duplicate reservations and lost customers during peak dining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10728655" cy="80467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  <a:latin typeface="Arial"/>
              </a:defRPr>
            </a:pPr>
            <a:r>
              <a:t>• Disconnected Kitchen Communications: </a:t>
            </a:r>
            <a:r>
              <a:rPr b="0" sz="1200">
                <a:solidFill>
                  <a:srgbClr val="CBD5E1"/>
                </a:solidFill>
              </a:rPr>
              <a:t>Physical paper order slips lead to misplaced tickets, uncoordinated food preparation sequences, and zero audit timestamps for kitchen throughput.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11296"/>
            <a:ext cx="10728655" cy="80467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6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  <a:latin typeface="Arial"/>
              </a:defRPr>
            </a:pPr>
            <a:r>
              <a:t>• Vulnerable Client-Side Billing: </a:t>
            </a:r>
            <a:r>
              <a:rPr b="0" sz="1200">
                <a:solidFill>
                  <a:srgbClr val="CBD5E1"/>
                </a:solidFill>
              </a:rPr>
              <a:t>Insecure web applications that calculate subtotals or trust client-supplied totals on checkout expose the business to malicious price manipulation and accounting discrepancies.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10728655" cy="80467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9704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  <a:latin typeface="Arial"/>
              </a:defRPr>
            </a:pPr>
            <a:r>
              <a:t>• Disjointed Multi-Branch Operations: </a:t>
            </a:r>
            <a:r>
              <a:rPr b="0" sz="1200">
                <a:solidFill>
                  <a:srgbClr val="CBD5E1"/>
                </a:solidFill>
              </a:rPr>
              <a:t>Floor managers lack centralized real-time visibility into branch-specific menus, physical seating availability, and operational branch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76672"/>
            <a:ext cx="10728655" cy="80467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223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  <a:latin typeface="Arial"/>
              </a:defRPr>
            </a:pPr>
            <a:r>
              <a:t>• Absence of Unified Business Analytics: </a:t>
            </a:r>
            <a:r>
              <a:rPr b="0" sz="1200">
                <a:solidFill>
                  <a:srgbClr val="CBD5E1"/>
                </a:solidFill>
              </a:rPr>
              <a:t>Traditional setups lack automated aggregation pipelines for tracking sales revenue, identifying popular dishes, finding peak rush hours, and monitoring verified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Project Objectives: Core Functional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4D399"/>
                </a:solidFill>
                <a:latin typeface="Arial"/>
              </a:defRPr>
            </a:pPr>
            <a:r>
              <a:t>1. Automate Table Inventory &amp; Reservations: </a:t>
            </a:r>
            <a:r>
              <a:rPr b="0" sz="1200">
                <a:solidFill>
                  <a:srgbClr val="CBD5E1"/>
                </a:solidFill>
              </a:rPr>
              <a:t>Eliminate double-booking conflicts across physical restaurant branches using a real-time mathematical time-interval overlap detection algorithm [Tstart, Tend) vs [Rstart, Rend).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2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4D399"/>
                </a:solidFill>
                <a:latin typeface="Arial"/>
              </a:defRPr>
            </a:pPr>
            <a:r>
              <a:t>2. Implement Deterministic Order State Machine: </a:t>
            </a:r>
            <a:r>
              <a:rPr b="0" sz="1200">
                <a:solidFill>
                  <a:srgbClr val="CBD5E1"/>
                </a:solidFill>
              </a:rPr>
              <a:t>Enforce a strict status progression workflow (PLACED → PREPARING → READY → SERVED/DELIVERED) with role-based validation and full audit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5264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00984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4D399"/>
                </a:solidFill>
                <a:latin typeface="Arial"/>
              </a:defRPr>
            </a:pPr>
            <a:r>
              <a:t>3. Guarantee Server-Side Financial Integrity: </a:t>
            </a:r>
            <a:r>
              <a:rPr b="0" sz="1200">
                <a:solidFill>
                  <a:srgbClr val="CBD5E1"/>
                </a:solidFill>
              </a:rPr>
              <a:t>Perform 100% of price calculations on the server. Menu prices are securely fetched from the database, applying 5% Tax and 5% Service Charge with floating-point rounding.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59936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05656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4D399"/>
                </a:solidFill>
                <a:latin typeface="Arial"/>
              </a:defRPr>
            </a:pPr>
            <a:r>
              <a:t>4. Streamline Kitchen Display &amp; Order Queue: </a:t>
            </a:r>
            <a:r>
              <a:rPr b="0" sz="1200">
                <a:solidFill>
                  <a:srgbClr val="CBD5E1"/>
                </a:solidFill>
              </a:rPr>
              <a:t>Deliver a real-time Kitchen Display System queue sorted in strict First-In, First-Out (FIFO) order, sanitizing customer financial details for privacy.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64608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03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4D399"/>
                </a:solidFill>
                <a:latin typeface="Arial"/>
              </a:defRPr>
            </a:pPr>
            <a:r>
              <a:t>5. Verified Reviews &amp; Customer History: </a:t>
            </a:r>
            <a:r>
              <a:rPr b="0" sz="1200">
                <a:solidFill>
                  <a:srgbClr val="CBD5E1"/>
                </a:solidFill>
              </a:rPr>
              <a:t>Provide paginated order and reservation histories, and restrict 1–5 star customer feedback strictly to completed dining experiences (SERVED/DELIVERED).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4D399"/>
                </a:solidFill>
                <a:latin typeface="Arial"/>
              </a:defRPr>
            </a:pPr>
            <a:r>
              <a:t>6. Multi-Branch Real-Time Analytics: </a:t>
            </a:r>
            <a:r>
              <a:rPr b="0" sz="1200">
                <a:solidFill>
                  <a:srgbClr val="CBD5E1"/>
                </a:solidFill>
              </a:rPr>
              <a:t>Power executive management dashboards with native MongoDB aggregation pipelines ($match, $unwind, $group, $sort) for revenue, dish popularity, and peak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Proposed Solution &amp; Role-Based Access Control (RBAC)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  <a:latin typeface="Arial"/>
              </a:defRPr>
            </a:pPr>
            <a:r>
              <a:t>CUSTOMER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Registers &amp; authenticates via JWT</a:t>
            </a:r>
            <a:br/>
            <a:r>
              <a:t>• Selects branch &amp; browses menu</a:t>
            </a:r>
            <a:br/>
            <a:r>
              <a:t>• Reserves tables with conflict check</a:t>
            </a:r>
            <a:br/>
            <a:r>
              <a:t>• Places Dine-In / Takeaway orders</a:t>
            </a:r>
            <a:br/>
            <a:r>
              <a:t>• Views itemized bills &amp; tracks status</a:t>
            </a:r>
            <a:br/>
            <a:r>
              <a:t>• Submits verified 1-5 star ratings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2880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59E0B"/>
                </a:solidFill>
                <a:latin typeface="Arial"/>
              </a:defRPr>
            </a:pPr>
            <a:r>
              <a:t>KITCHEN STAFF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Dedicated Kitchen Queue interface</a:t>
            </a:r>
            <a:br/>
            <a:r>
              <a:t>• Real-time FIFO ticket sequence</a:t>
            </a:r>
            <a:br/>
            <a:r>
              <a:t>• Advances status (PLACED→PREPARING→READY)</a:t>
            </a:r>
            <a:br/>
            <a:r>
              <a:t>• Financial data (prices, bills) sanitized</a:t>
            </a:r>
            <a:br/>
            <a:r>
              <a:t>• Displays table # and items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82880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4D399"/>
                </a:solidFill>
                <a:latin typeface="Arial"/>
              </a:defRPr>
            </a:pPr>
            <a:r>
              <a:t>BRANCH MANAGER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Scoped to assigned branches</a:t>
            </a:r>
            <a:br/>
            <a:r>
              <a:t>• Real-time sales &amp; revenue KPIs</a:t>
            </a:r>
            <a:br/>
            <a:r>
              <a:t>• Popular dishes &amp; peak hours reports</a:t>
            </a:r>
            <a:br/>
            <a:r>
              <a:t>• Operational branch deactivation toggle</a:t>
            </a:r>
            <a:br/>
            <a:r>
              <a:t>• Administrative reservation override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82880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A855F7"/>
                </a:solidFill>
                <a:latin typeface="Arial"/>
              </a:defRPr>
            </a:pPr>
            <a:r>
              <a:t>ADMINISTRATOR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Global system-wide oversight</a:t>
            </a:r>
            <a:br/>
            <a:r>
              <a:t>• Multi-branch CRUD management</a:t>
            </a:r>
            <a:br/>
            <a:r>
              <a:t>• Full inventory &amp; user role control</a:t>
            </a:r>
            <a:br/>
            <a:r>
              <a:t>• Global aggregation reporting access</a:t>
            </a:r>
            <a:br/>
            <a:r>
              <a:t>• System configuration &amp;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System Architecture: Layered 3-Tier MVC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5029248000"/>
            <a:ext cx="10728655" cy="11430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502933944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  <a:latin typeface="Arial"/>
              </a:defRPr>
            </a:pPr>
            <a:r>
              <a:t>Tier 1: Presentation (Client)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Single Page Application (HTML5, Responsive CSS3, Vanilla ES6 JavaScript)</a:t>
            </a:r>
            <a:br/>
            <a:r>
              <a:t>Communicates asynchronously via HTTP REST calls with JSON payloads and Bearer JWT tokens.</a:t>
            </a:r>
            <a:br/>
            <a:r>
              <a:t>Contains Customer, Kitchen, and Manager web views with zero external frontend framework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75607552000"/>
            <a:ext cx="10728655" cy="11430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560764344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  <a:latin typeface="Arial"/>
              </a:defRPr>
            </a:pPr>
            <a:r>
              <a:t>Tier 2: Application Layer (Express.js API)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Global Middleware: CORS, express.json(), express.urlencoded(), and Morgan logger.</a:t>
            </a:r>
            <a:br/>
            <a:r>
              <a:t>• Security Middleware: authenticate (JWT verification) &amp; authorize (Role-Based Access Control).</a:t>
            </a:r>
            <a:br/>
            <a:r>
              <a:t>• Validation Layer: Declarative Joi schemas for query params, request bodies, and route IDs.</a:t>
            </a:r>
            <a:br/>
            <a:r>
              <a:t>• Controllers: Standardized response envelopes { success: true, data } and error handling.</a:t>
            </a:r>
            <a:br/>
            <a:r>
              <a:t>• Services Layer: Encapsulates domain logic (Reservation conflict engine, price calculation, FIFO queue).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1475008000"/>
            <a:ext cx="10728655" cy="11430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147509944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  <a:latin typeface="Arial"/>
              </a:defRPr>
            </a:pPr>
            <a:r>
              <a:t>Tier 3: Persistence Layer (MongoDB &amp; Mongoose)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Document Storage: MongoDB database managed through Mongoose Object Data Modeling (ODM).</a:t>
            </a:r>
            <a:br/>
            <a:r>
              <a:t>• Production Indexing: Compound unique indexes on tables, active orders, and customer feedback.</a:t>
            </a:r>
            <a:br/>
            <a:r>
              <a:t>• Zero-Config Engine: Automatic embedded in-memory MongoDB fallback when local daemon is unavailable.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Database Design: References vs. Embedded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  <a:latin typeface="Arial"/>
              </a:defRPr>
            </a:pPr>
            <a:r>
              <a:t>Referenced Collections (Normalized)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Used for independent entities with autonomous lifecycles:</a:t>
            </a:r>
            <a:br/>
            <a:br/>
            <a:r>
              <a:t>• users: Credentials, roles (CUSTOMER, KITCHEN, MANAGER, ADMIN), and assigned branch IDs.</a:t>
            </a:r>
            <a:br/>
            <a:r>
              <a:t>• branches: Location details, capacity, and operational status flag (isActive).</a:t>
            </a:r>
            <a:br/>
            <a:r>
              <a:t>• tables: Seating capacities and branch associations.</a:t>
            </a:r>
            <a:br/>
            <a:r>
              <a:t>  Index: { branchId: 1, tableNumber: 1 } UNIQUE</a:t>
            </a:r>
            <a:br/>
            <a:r>
              <a:t>• menuItems: Name, category, price, veg/non-veg flag, and branch scoping.</a:t>
            </a:r>
            <a:br/>
            <a:r>
              <a:t>• feedback: Customer reviews linked to completed orders.</a:t>
            </a:r>
            <a:br/>
            <a:r>
              <a:t>  Index: { orderId: 1, customerId: 1 } UNIQUE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4D399"/>
                </a:solidFill>
                <a:latin typeface="Arial"/>
              </a:defRPr>
            </a:pPr>
            <a:r>
              <a:t>Embedded Snapshots (Denormalized)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Used where historical immutability is essential:</a:t>
            </a:r>
            <a:br/>
            <a:br/>
            <a:r>
              <a:t>• Order Items Snapshot (orderItemSchema):</a:t>
            </a:r>
            <a:br/>
            <a:r>
              <a:t>  When an order is created, the item name and unit price are permanently embedded inside the order document.</a:t>
            </a:r>
            <a:br/>
            <a:r>
              <a:t>  ★ Why? If menu item prices increase next week, past orders and historical invoices remain 100% immutable and accurate.</a:t>
            </a:r>
            <a:br/>
            <a:br/>
            <a:r>
              <a:t>• Audit History (statusHistorySchema):</a:t>
            </a:r>
            <a:br/>
            <a:r>
              <a:t>  Embeds full lifecycle state transitions: { status, changedBy, changedAt, remarks }.</a:t>
            </a:r>
            <a:br/>
            <a:r>
              <a:t>  Provides an unalterable forensic audit trail for every status jump.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Table Reservation Engine &amp; Conflict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  <a:latin typeface="Arial"/>
              </a:defRPr>
            </a:pPr>
            <a:r>
              <a:t>Mathematical Interval Conflict Detection Formula: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1097280"/>
          </a:xfrm>
          <a:prstGeom prst="roundRect">
            <a:avLst/>
          </a:prstGeom>
          <a:solidFill>
            <a:srgbClr val="1720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93C5FD"/>
                </a:solidFill>
                <a:latin typeface="Courier New"/>
              </a:defRPr>
            </a:pPr>
            <a:r>
              <a:t>Proposed Slot: [Tstart, Tend)   vs   Existing Active Booking: [Rstart, Rend)</a:t>
            </a:r>
            <a:br/>
            <a:br/>
            <a:r>
              <a:t>CONFLICT DETECTED IF AND ONLY IF:   Tstart &lt; Rend   AND   Tend &gt; Rstart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4D399"/>
                </a:solidFill>
                <a:latin typeface="Arial"/>
              </a:defRPr>
            </a:pPr>
            <a:r>
              <a:t>• Strict Non-Overlapping Feasibility: </a:t>
            </a:r>
            <a:r>
              <a:rPr b="0" sz="1100">
                <a:solidFill>
                  <a:srgbClr val="CBD5E1"/>
                </a:solidFill>
              </a:rPr>
              <a:t>Back-to-back bookings are fully permitted. A reservation ending at 19:00 and another starting at 19:00 do not conflict because time boundaries are open on the right [Tstart, Tend).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87952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4D399"/>
                </a:solidFill>
                <a:latin typeface="Arial"/>
              </a:defRPr>
            </a:pPr>
            <a:r>
              <a:t>• Exclusion of Cancelled Records: </a:t>
            </a:r>
            <a:r>
              <a:rPr b="0" sz="1100">
                <a:solidFill>
                  <a:srgbClr val="CBD5E1"/>
                </a:solidFill>
              </a:rPr>
              <a:t>Bookings with status: 'CANCELLED' are explicitly filtered out using MongoDB query { status: { $ne: 'CANCELLED' } }, immediately releasing table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92624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38344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4D399"/>
                </a:solidFill>
                <a:latin typeface="Arial"/>
              </a:defRPr>
            </a:pPr>
            <a:r>
              <a:t>• 2-Hour Academic Cancellation Policy: </a:t>
            </a:r>
            <a:r>
              <a:rPr b="0" sz="1100">
                <a:solidFill>
                  <a:srgbClr val="CBD5E1"/>
                </a:solidFill>
              </a:rPr>
              <a:t>Customers can cancel up to 2 hours in advance (ΔT ≥ 120 mins). Cancellations under 2 hours are rejected with 409 CANCELLATION_WINDOW_EXPIRED (Branch Managers retain administrative override privilege).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97296"/>
            <a:ext cx="10728655" cy="713232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43016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4D399"/>
                </a:solidFill>
                <a:latin typeface="Arial"/>
              </a:defRPr>
            </a:pPr>
            <a:r>
              <a:t>• Atomic Pre-Validated Rescheduling: </a:t>
            </a:r>
            <a:r>
              <a:rPr b="0" sz="1100">
                <a:solidFill>
                  <a:srgbClr val="CBD5E1"/>
                </a:solidFill>
              </a:rPr>
              <a:t>When rescheduling, the engine validates that the target time slot is open before updating the existing reservation.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Order Workflow: Finite State Machine Transitions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B82F6"/>
                </a:solidFill>
                <a:latin typeface="Arial"/>
              </a:defRPr>
            </a:pPr>
            <a:r>
              <a:t>Deterministic State Progression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Courier New"/>
              </a:defRPr>
            </a:pPr>
            <a:r>
              <a:t>Dine-In Order Workflow:</a:t>
            </a:r>
            <a:br/>
            <a:r>
              <a:t>  PLACED → PREPARING → READY → SERVED</a:t>
            </a:r>
            <a:br/>
            <a:br/>
            <a:r>
              <a:t>Takeaway Order Workflow:</a:t>
            </a:r>
            <a:br/>
            <a:r>
              <a:t>  PLACED → PREPARING → READY → DELIVERED</a:t>
            </a:r>
            <a:br/>
            <a:br/>
            <a:r>
              <a:t>Cancellation Path:</a:t>
            </a:r>
            <a:br/>
            <a:r>
              <a:t>  PLACED → CANCELLED (Customer or Manager)</a:t>
            </a:r>
            <a:br/>
            <a:br/>
            <a:r>
              <a:t>Terminal Immutable States:</a:t>
            </a:r>
            <a:br/>
            <a:r>
              <a:t>  • SERVED (Dine-In completed)</a:t>
            </a:r>
            <a:br/>
            <a:r>
              <a:t>  • DELIVERED (Takeaway completed)</a:t>
            </a:r>
            <a:br/>
            <a:r>
              <a:t>  • CANCELLED (Order voided)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  <a:latin typeface="Arial"/>
              </a:defRPr>
            </a:pPr>
            <a:r>
              <a:t>State Machine Enforcement Rules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Arial"/>
              </a:defRPr>
            </a:pPr>
            <a:r>
              <a:t>1. Illegal Transition Rejection:</a:t>
            </a:r>
            <a:br/>
            <a:r>
              <a:t>   Direct jumps such as PLACED → SERVED are immediately rejected with HTTP 409 INVALID_STATUS_TRANSITION.</a:t>
            </a:r>
            <a:br/>
            <a:br/>
            <a:r>
              <a:t>2. Terminal State Locking:</a:t>
            </a:r>
            <a:br/>
            <a:r>
              <a:t>   Once an order reaches SERVED, DELIVERED, or CANCELLED, further updates are strictly blocked.</a:t>
            </a:r>
            <a:br/>
            <a:br/>
            <a:r>
              <a:t>3. Role-Based Status Enforcement:</a:t>
            </a:r>
            <a:br/>
            <a:r>
              <a:t>   • Kitchen staff can only update: PLACED → PREPARING → READY.</a:t>
            </a:r>
            <a:br/>
            <a:r>
              <a:t>   • Floor managers advance: READY → SERVED.</a:t>
            </a:r>
            <a:br/>
            <a:br/>
            <a:r>
              <a:t>4. Audit History Logging:</a:t>
            </a:r>
            <a:br/>
            <a:r>
              <a:t>   Every valid jump appends { status, changedBy, changedAt, remarks } to statusHistory.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Food Ordering &amp; Server-Side Billing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  <a:latin typeface="Arial"/>
              </a:defRPr>
            </a:pPr>
            <a:r>
              <a:t>Order Placement &amp; Price Integrity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• Client Sends Item IDs &amp; Quantities Only:</a:t>
            </a:r>
            <a:br/>
            <a:r>
              <a:t>  The client never provides item prices or totals. Any client-sent prices are discarded.</a:t>
            </a:r>
            <a:br/>
            <a:br/>
            <a:r>
              <a:t>• Server-Authoritative Database Lookup:</a:t>
            </a:r>
            <a:br/>
            <a:r>
              <a:t>  The server retrieves current prices from the MenuItem collection in MongoDB, ensuring complete protection against price tampering.</a:t>
            </a:r>
            <a:br/>
            <a:br/>
            <a:r>
              <a:t>• Cross-Branch Validation:</a:t>
            </a:r>
            <a:br/>
            <a:r>
              <a:t>  All ordered items are verified to belong to the active branch specified.</a:t>
            </a:r>
            <a:br/>
            <a:br/>
            <a:r>
              <a:t>• Order Modes:</a:t>
            </a:r>
            <a:br/>
            <a:r>
              <a:t>  - DINE_IN: Bound to an active table.</a:t>
            </a:r>
            <a:br/>
            <a:r>
              <a:t>  - TAKEAWAY: Independent pickup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4D399"/>
                </a:solidFill>
                <a:latin typeface="Arial"/>
              </a:defRPr>
            </a:pPr>
            <a:r>
              <a:t>Financial Formulation &amp; Billing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  <a:latin typeface="Courier New"/>
              </a:defRPr>
            </a:pPr>
            <a:r>
              <a:t>Mathematical Formulas:</a:t>
            </a:r>
            <a:br/>
            <a:br/>
            <a:r>
              <a:t>• LineTotal_i = UnitPrice_i × Quantity_i</a:t>
            </a:r>
            <a:br/>
            <a:r>
              <a:t>• Subtotal = ∑ LineTotal_i</a:t>
            </a:r>
            <a:br/>
            <a:r>
              <a:t>• TaxAmount = round(Subtotal × 0.05) [5%]</a:t>
            </a:r>
            <a:br/>
            <a:r>
              <a:t>• ServiceCharge = round(Subtotal × 0.05) [5%]</a:t>
            </a:r>
            <a:br/>
            <a:r>
              <a:t>• GrandTotal = Subtotal + TaxAmount + ServiceCharge</a:t>
            </a:r>
            <a:br/>
            <a:br/>
            <a:r>
              <a:t>Security &amp; Privacy:</a:t>
            </a:r>
            <a:br/>
            <a:r>
              <a:t>• GET /api/orders/:id/bill generates itemized bill.</a:t>
            </a:r>
            <a:br/>
            <a:r>
              <a:t>• Kitchen users attempting to access billing are blocked with 403 Forbidden to protect financial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Kitchen Display System: FIFO Preparation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rial"/>
              </a:defRPr>
            </a:pPr>
            <a:r>
              <a:t>Ticket #1 (Order #101) — 10:02 AM</a:t>
            </a:r>
          </a:p>
          <a:p>
            <a:pPr>
              <a:spcBef>
                <a:spcPts val="400"/>
              </a:spcBef>
              <a:defRPr sz="1150">
                <a:solidFill>
                  <a:srgbClr val="EF4444"/>
                </a:solidFill>
                <a:latin typeface="Courier New"/>
              </a:defRPr>
            </a:pPr>
            <a:r>
              <a:t>Table 1 • Dine-In • Paneer Butter Masala (x2), Garlic Naan (x4)   |   [OLDEST TICKET: PREPARE FIRST (FIFO)]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rial"/>
              </a:defRPr>
            </a:pPr>
            <a:r>
              <a:t>Ticket #2 (Order #102) — 10:05 AM</a:t>
            </a:r>
          </a:p>
          <a:p>
            <a:pPr>
              <a:spcBef>
                <a:spcPts val="400"/>
              </a:spcBef>
              <a:defRPr sz="1150">
                <a:solidFill>
                  <a:srgbClr val="F59E0B"/>
                </a:solidFill>
                <a:latin typeface="Courier New"/>
              </a:defRPr>
            </a:pPr>
            <a:r>
              <a:t>Takeaway • Veg Biryani (x1), Gulab Jamun (x2)   |   [STATUS: IN PREPARATION]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59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rial"/>
              </a:defRPr>
            </a:pPr>
            <a:r>
              <a:t>Ticket #3 (Order #103) — 10:08 AM</a:t>
            </a:r>
          </a:p>
          <a:p>
            <a:pPr>
              <a:spcBef>
                <a:spcPts val="400"/>
              </a:spcBef>
              <a:defRPr sz="1150">
                <a:solidFill>
                  <a:srgbClr val="3B82F6"/>
                </a:solidFill>
                <a:latin typeface="Courier New"/>
              </a:defRPr>
            </a:pPr>
            <a:r>
              <a:t>Table 4 • Dine-In • Dal Makhani (x1), Roti (x3), Mango Lassi (x2)   |   [STATUS: QUEUED (PLACED)]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118872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B82F6"/>
                </a:solidFill>
                <a:latin typeface="Arial"/>
              </a:defRPr>
            </a:pPr>
            <a:r>
              <a:t>Key Kitchen Queue Architectural Characteristics: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• First-In, First-Out (FIFO) Index: Orders query { status: { $in: ['PLACED', 'PREPARING'] } } sorted by { createdAt: 1 }.</a:t>
            </a:r>
            <a:br/>
            <a:r>
              <a:t>• Data Sanitization: Financial totals, prices, taxes, and customer contact data are strictly stripped from kitchen payloads.</a:t>
            </a:r>
            <a:br/>
            <a:r>
              <a:t>• Operational Focus: Displays Table Number, Order Type, Dish Names, Quantities, Preparation Notes, and Elapsed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Customer &amp; Manager Web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  <a:latin typeface="Arial"/>
              </a:defRPr>
            </a:pPr>
            <a:r>
              <a:t>Customer Experience Features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Arial"/>
              </a:defRPr>
            </a:pPr>
            <a:r>
              <a:t>• Multi-Branch Selection:</a:t>
            </a:r>
            <a:br/>
            <a:r>
              <a:t>  Choose between operational branches (Central Campus, Kengeri Campus).</a:t>
            </a:r>
            <a:br/>
            <a:br/>
            <a:r>
              <a:t>• Interactive Table Booking:</a:t>
            </a:r>
            <a:br/>
            <a:r>
              <a:t>  Visual table cards with guest capacities and conflict validation.</a:t>
            </a:r>
            <a:br/>
            <a:br/>
            <a:r>
              <a:t>• Categorized Menu Catalog:</a:t>
            </a:r>
            <a:br/>
            <a:r>
              <a:t>  Filter dishes by category (Starters, Mains, Desserts, Beverages) and Vegetarian pill toggle.</a:t>
            </a:r>
            <a:br/>
            <a:br/>
            <a:r>
              <a:t>• Real-Time Order Tracking &amp; Billing:</a:t>
            </a:r>
            <a:br/>
            <a:r>
              <a:t>  View progress badge (PLACED→PREPARING→READY→SERVED) and itemized receipt with tax breakdown.</a:t>
            </a:r>
            <a:br/>
            <a:br/>
            <a:r>
              <a:t>• Verified 1–5 Star Dining Reviews:</a:t>
            </a:r>
            <a:br/>
            <a:r>
              <a:t>  Submit ratings strictly restricted to completed meals.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4D399"/>
                </a:solidFill>
                <a:latin typeface="Arial"/>
              </a:defRPr>
            </a:pPr>
            <a:r>
              <a:t>Manager Dashboard Features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Arial"/>
              </a:defRPr>
            </a:pPr>
            <a:r>
              <a:t>• Executive KPI Cards:</a:t>
            </a:r>
            <a:br/>
            <a:r>
              <a:t>  Real-time Total Sales Revenue, Total Completed Orders, Active Reservations, and Average Customer Rating.</a:t>
            </a:r>
            <a:br/>
            <a:br/>
            <a:r>
              <a:t>• Branch Scoping &amp; Security:</a:t>
            </a:r>
            <a:br/>
            <a:r>
              <a:t>  Branch managers are strictly isolated to their assigned branches (managedBranchIds).</a:t>
            </a:r>
            <a:br/>
            <a:br/>
            <a:r>
              <a:t>• 1-Click Operational Deactivation:</a:t>
            </a:r>
            <a:br/>
            <a:r>
              <a:t>  Toggle branch status (isActive: false). Inactive branches instantly block new bookings while preserving historical reporting.</a:t>
            </a:r>
            <a:br/>
            <a:br/>
            <a:r>
              <a:t>• Native MongoDB Analytics:</a:t>
            </a:r>
            <a:br/>
            <a:r>
              <a:t>  Visual sales breakdown, top 5 selling dishes, peak dining hours, and customer satisfaction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Manager Analytics: Native MongoDB Aggregation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41732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3B82F6"/>
                </a:solidFill>
                <a:latin typeface="Arial"/>
              </a:defRPr>
            </a:pPr>
            <a:r>
              <a:t>1. Popular Dishes Report ($unwind + $group + $sort)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Order.aggregate([</a:t>
            </a:r>
            <a:br/>
            <a:r>
              <a:t>  { $match: { status: { $in: ['SERVED', 'DELIVERED'] } } },</a:t>
            </a:r>
            <a:br/>
            <a:r>
              <a:t>  { $unwind: '$items' },</a:t>
            </a:r>
            <a:br/>
            <a:r>
              <a:t>  { $group: { _id: '$items.menuItemId', name: { $first: '$items.name' }, quantitySold: { $sum: '$items.quantity' }, revenue: { $sum: '$items.lineTotal' } } },</a:t>
            </a:r>
            <a:br/>
            <a:r>
              <a:t>  { $sort: { quantitySold: -1 } }, { $limit: 5 }</a:t>
            </a:r>
            <a:br/>
            <a:r>
              <a:t>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3B82F6"/>
                </a:solidFill>
                <a:latin typeface="Arial"/>
              </a:defRPr>
            </a:pPr>
            <a:r>
              <a:t>2. Peak Ordering Hours Report ($hour + $group)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Order.aggregate([</a:t>
            </a:r>
            <a:br/>
            <a:r>
              <a:t>  { $match: { status: { $in: ['SERVED', 'DELIVERED'] } } },</a:t>
            </a:r>
            <a:br/>
            <a:r>
              <a:t>  { $group: { _id: { $hour: '$createdAt' }, totalOrders: { $sum: 1 }, totalRevenue: { $sum: '$grandTotal' } } },</a:t>
            </a:r>
            <a:br/>
            <a:r>
              <a:t>  { $sort: { '_id': 1 } }</a:t>
            </a:r>
            <a:br/>
            <a:r>
              <a:t>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728655" cy="13716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3B82F6"/>
                </a:solidFill>
                <a:latin typeface="Arial"/>
              </a:defRPr>
            </a:pPr>
            <a:r>
              <a:t>3. Branch Sales &amp; Revenue Pipeline ($group + $sum)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Order.aggregate([</a:t>
            </a:r>
            <a:br/>
            <a:r>
              <a:t>  { $match: { branchId: branchObjectId, status: { $in: ['SERVED', 'DELIVERED'] } } },</a:t>
            </a:r>
            <a:br/>
            <a:r>
              <a:t>  { $group: { _id: null, totalRevenue: { $sum: '$grandTotal' }, totalTax: { $sum: '$taxAmount' }, totalOrders: { $sum: 1 } } }</a:t>
            </a:r>
            <a:br/>
            <a:r>
              <a:t>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Automated Testing &amp; Quality Assurance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AUTOMATED TEST SUITE: 149 / 149 ASSERTIONS PASSED (100%)</a:t>
            </a:r>
          </a:p>
          <a:p>
            <a:pPr algn="ctr">
              <a:defRPr sz="1300">
                <a:solidFill>
                  <a:srgbClr val="A7F3D0"/>
                </a:solidFill>
                <a:latin typeface="Arial"/>
              </a:defRPr>
            </a:pPr>
            <a:r>
              <a:t>0 Failures • 0 Regressions • Execution Duration: ~2.7 Seconds • Isolated In-Memory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  <a:latin typeface="Arial"/>
              </a:defRPr>
            </a:pPr>
            <a:r>
              <a:t>Core Modules 1–7 Tested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Authentication &amp; Authorization (22 tests):</a:t>
            </a:r>
            <a:br/>
            <a:r>
              <a:t>  Registration, bcrypt hashing, JWT issuance, 401/403 checks.</a:t>
            </a:r>
            <a:br/>
            <a:r>
              <a:t>• Branch Management (8 tests):</a:t>
            </a:r>
            <a:br/>
            <a:r>
              <a:t>  Active branch listing, manager scoping, deactivation checks.</a:t>
            </a:r>
            <a:br/>
            <a:r>
              <a:t>• Table Inventory (9 tests):</a:t>
            </a:r>
            <a:br/>
            <a:r>
              <a:t>  Branch association, capacity limits, duplicate rejection.</a:t>
            </a:r>
            <a:br/>
            <a:r>
              <a:t>• Menu Catalog (12 tests):</a:t>
            </a:r>
            <a:br/>
            <a:r>
              <a:t>  Category filtering, dietary veg flags, item inactivation.</a:t>
            </a:r>
            <a:br/>
            <a:r>
              <a:t>• Reservation Engine &amp; Conflicts (30 tests):</a:t>
            </a:r>
            <a:br/>
            <a:r>
              <a:t>  Interval conflict (409), back-to-back booking, 2-hr cutoff.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172036"/>
          </a:solidFill>
          <a:ln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D399"/>
                </a:solidFill>
                <a:latin typeface="Arial"/>
              </a:defRPr>
            </a:pPr>
            <a:r>
              <a:t>Core Modules 8–13 Tested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• Food Ordering &amp; Server Pricing (17 tests):</a:t>
            </a:r>
            <a:br/>
            <a:r>
              <a:t>  Dine-In &amp; Takeaway, item verification, price tampering discard.</a:t>
            </a:r>
            <a:br/>
            <a:r>
              <a:t>• State Machine Transitions (12 tests):</a:t>
            </a:r>
            <a:br/>
            <a:r>
              <a:t>  Valid progression, invalid jump rejection (409), terminal lock.</a:t>
            </a:r>
            <a:br/>
            <a:r>
              <a:t>• Billing Calculations (11 tests):</a:t>
            </a:r>
            <a:br/>
            <a:r>
              <a:t>  Subtotal + 5% tax + 5% service charge rounding accuracy.</a:t>
            </a:r>
            <a:br/>
            <a:r>
              <a:t>• Kitchen Display Queue (6 tests):</a:t>
            </a:r>
            <a:br/>
            <a:r>
              <a:t>  FIFO timestamp order, sanitization of financial data.</a:t>
            </a:r>
            <a:br/>
            <a:r>
              <a:t>• Feedback &amp; Manager Aggregations (18 tests):</a:t>
            </a:r>
            <a:br/>
            <a:r>
              <a:t>  1-5 star bounds, single review per order, pipeline queries.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CHRIST UNIVERSITY • 5TH SEM B.TECH CSE • CIA-3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Slide 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Conclusion &amp; 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  <a:latin typeface="Arial"/>
              </a:defRPr>
            </a:pPr>
            <a:r>
              <a:t>Project Accomplishments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Arial"/>
              </a:defRPr>
            </a:pPr>
            <a:r>
              <a:t>• Complete Enterprise Platform:</a:t>
            </a:r>
            <a:br/>
            <a:r>
              <a:t>  Delivered a robust multi-branch restaurant system supporting the entire dining lifecycle across 13 core modules.</a:t>
            </a:r>
            <a:br/>
            <a:br/>
            <a:r>
              <a:t>• Mathematical Conflict Engine:</a:t>
            </a:r>
            <a:br/>
            <a:r>
              <a:t>  100% elimination of double-bookings via interval overlap validation.</a:t>
            </a:r>
            <a:br/>
            <a:br/>
            <a:r>
              <a:t>• Deterministic Workflow &amp; Billing:</a:t>
            </a:r>
            <a:br/>
            <a:r>
              <a:t>  Enforced finite-state transitions and server-side financial calculations.</a:t>
            </a:r>
            <a:br/>
            <a:br/>
            <a:r>
              <a:t>• 100% Automated Test Passing:</a:t>
            </a:r>
            <a:br/>
            <a:r>
              <a:t>  Verified with 149/149 assertions passing, zero errors, and comprehensive academic documentation.</a:t>
            </a:r>
            <a:br/>
            <a:br/>
            <a:r>
              <a:t>• Ready for CIA-3 Evaluation:</a:t>
            </a:r>
            <a:br/>
            <a:r>
              <a:t>  Fully compliant with Christ University academic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036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A855F7"/>
                </a:solidFill>
                <a:latin typeface="Arial"/>
              </a:defRPr>
            </a:pPr>
            <a:r>
              <a:t>Future Scope (Roadmap)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Arial"/>
              </a:defRPr>
            </a:pPr>
            <a:r>
              <a:t>Features planned for future iterations:</a:t>
            </a:r>
            <a:br/>
            <a:br/>
            <a:r>
              <a:t>• Online Payment Gateway Integration:</a:t>
            </a:r>
            <a:br/>
            <a:r>
              <a:t>  Razorpay / Stripe webhook integration with payment verification.</a:t>
            </a:r>
            <a:br/>
            <a:br/>
            <a:r>
              <a:t>• Real-Time WebSockets (Socket.io):</a:t>
            </a:r>
            <a:br/>
            <a:r>
              <a:t>  Instantaneous push notifications to the Kitchen Display System without polling.</a:t>
            </a:r>
            <a:br/>
            <a:br/>
            <a:r>
              <a:t>• Tabletop QR Code Ordering:</a:t>
            </a:r>
            <a:br/>
            <a:r>
              <a:t>  Unique QR codes placed on dining tables to load table-scoped carts directly on mobile browsers.</a:t>
            </a:r>
            <a:br/>
            <a:br/>
            <a:r>
              <a:t>• Automated SMS &amp; WhatsApp Alerts:</a:t>
            </a:r>
            <a:br/>
            <a:r>
              <a:t>  Twilio integration for instant reservation confirmations and cancellation reminders.</a:t>
            </a:r>
            <a:br/>
            <a:br/>
            <a:r>
              <a:t>• AI Demand Forecasting:</a:t>
            </a:r>
            <a:br/>
            <a:r>
              <a:t>  Machine learning models for inventory replenishment based on historical peak rush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